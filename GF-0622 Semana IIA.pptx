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4" r:id="rId15"/>
    <p:sldId id="275" r:id="rId16"/>
    <p:sldId id="276" r:id="rId17"/>
    <p:sldId id="277" r:id="rId18"/>
    <p:sldId id="279" r:id="rId19"/>
    <p:sldId id="278" r:id="rId20"/>
    <p:sldId id="283" r:id="rId21"/>
    <p:sldId id="284" r:id="rId22"/>
    <p:sldId id="280" r:id="rId23"/>
    <p:sldId id="272" r:id="rId24"/>
    <p:sldId id="281" r:id="rId25"/>
    <p:sldId id="282" r:id="rId26"/>
    <p:sldId id="285" r:id="rId27"/>
    <p:sldId id="301" r:id="rId28"/>
    <p:sldId id="286" r:id="rId29"/>
    <p:sldId id="287" r:id="rId30"/>
    <p:sldId id="289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4CDEA-E721-4AB4-95AF-658875DA7938}" type="datetimeFigureOut">
              <a:rPr lang="es-MX" smtClean="0"/>
              <a:t>16/03/2026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24C3D-6BF6-4056-A406-FA2BFABED46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2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resultado </a:t>
            </a:r>
            <a:r>
              <a:rPr lang="es-MX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es-MX" dirty="0"/>
              <a:t> aparece porque el </a:t>
            </a:r>
            <a:r>
              <a:rPr lang="es-MX" b="1" dirty="0" err="1"/>
              <a:t>slice</a:t>
            </a:r>
            <a:r>
              <a:rPr lang="es-MX" dirty="0"/>
              <a:t> que estás usando no incluye ningún elemento.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24C3D-6BF6-4056-A406-FA2BFABED469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064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E687-BD27-3EDD-9C94-B339EDDA7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1C4E3-BE79-06DA-3B4C-A69B4C29F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C0AEC-6562-7100-80BA-AF9E21DE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1EED8-1603-0DBB-E837-DCF5C66C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73F59-D580-6900-0017-BED41853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B748-F0D6-DE2D-3FCC-DF4E8544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1FC87-34D7-2942-248F-01D1A766E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D52AA-FE59-D362-7123-8855AD36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8D723-DDE2-CE07-9A5C-10E37272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CF3AB-B05F-937F-2E52-47C85A3F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3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183BF-A357-64CD-238B-4B9F88F5B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CC662-D98A-B5E3-F447-A33C50CE4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490C7-726B-887F-66FC-E6A760C97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8AF64-4ADA-C65A-C47D-17D7EE0C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A41A8-CE3D-3F6F-9583-17A4FF91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5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771A-A357-6963-7AC9-9D5E473A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611DC-2F9C-29BA-CD67-07F76222C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A166E-4AAC-3038-9E16-512D54E3F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06E68-175E-6CED-B5DC-BC3FB41A9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8643C-FAFD-566D-C5AC-537B1D13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5BB2E-09CD-8300-D1AA-474A2DCC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77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6CD4-010E-F2BC-CEAC-A5F1B25D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517C1-8504-002D-000D-4373DB811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D04FD-4B4B-1E65-FAAF-766402699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062FF-30AF-1D24-C7B6-48762AAE5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51ACF9-8D98-42F3-61A4-8CACA96A3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07CF7-A708-42F3-BA81-563F7CD1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65AF72-77EF-5B2E-8D96-0189CF3D0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B0CF5-5FA0-B29C-CECE-D0496B04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6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E7B5-8280-2074-FD04-5D9C01E11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DF21F-E494-7929-3D2F-1EA1C9FE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1EEA0-1253-C6F7-F3AF-E463B2F1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AE6E6-0F36-0804-9243-9E6ED0A2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5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D49650-2202-4171-05D8-D813E1EE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54F928-1C57-9C60-76A0-A82D59D6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4773D-71A9-1240-9DBE-33ED1650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1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4899-C2A5-72C6-9904-53C23D86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3D273-0508-169B-82E3-DCE1F3211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E5700-0513-8503-BE82-A64E469A6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8E7D2-1F82-768E-CA9B-82126897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98C4D-1220-E96F-43EE-744EE389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D0FF9-BB28-97FB-77AD-1DADCFF4F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3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375E-80A1-8187-4AC7-8268970C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B2842-7F24-6B3B-D82A-63431EDA4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5900C-826C-FC97-D7DA-903FBFD75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7CA7A-EF76-9034-74A8-A00C2F9E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3ACBA-1223-608D-FB2F-7021D14C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C1D53-2348-C636-D67E-E169C2A5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4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ED96-03C9-7D10-28E2-F2AF7125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370F2-C1BA-9F05-CED5-5EFA98E04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8B35-78FA-C1C1-700D-08514C79F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2656-E377-15D5-B0AA-A49000B2F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C8712-C98A-0C8F-1FFE-CF55D77B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99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8C2063-5CBA-B636-5EBE-CD2848846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AF07E-2028-D983-F271-8BBC2F91E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AD501-3863-885B-5EA4-5404AF3D9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29F8C-CEB8-1534-9916-C13DD263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BAFA-8409-C429-324C-FD78601C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1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78FAE3-FF9E-98C2-FE96-B7AA3C0A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69FB3-966A-F871-0157-34A0B7793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5F677-333D-CDFD-FC6E-A5ED8760C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AAA06-8590-4CEB-9B41-91EB2377CA46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895A-CA63-FD75-2FB0-49B6A1467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502B-CFDE-FDF6-321F-10F8DEA3B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F4A11-B74F-4C85-B575-092BD4B76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0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pro.arcgis.com/es/pro-app/3.4/arcpy/network-analyst/what-is-the-network-analyst-module.htm" TargetMode="External"/><Relationship Id="rId3" Type="http://schemas.openxmlformats.org/officeDocument/2006/relationships/hyperlink" Target="https://pro.arcgis.com/es/pro-app/3.4/arcpy/data-access/what-is-the-data-access-module-.htm" TargetMode="External"/><Relationship Id="rId7" Type="http://schemas.openxmlformats.org/officeDocument/2006/relationships/hyperlink" Target="https://pro.arcgis.com/es/pro-app/3.4/arcpy/metadata/what-is-the-metadata-module.htm" TargetMode="External"/><Relationship Id="rId2" Type="http://schemas.openxmlformats.org/officeDocument/2006/relationships/hyperlink" Target="https://pro.arcgis.com/es/pro-app/3.4/arcpy/charts/what-is-the-charts-module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o.arcgis.com/es/pro-app/3.4/arcpy/mapping/introduction-to-arcpy-mp.htm" TargetMode="External"/><Relationship Id="rId11" Type="http://schemas.openxmlformats.org/officeDocument/2006/relationships/hyperlink" Target="https://pro.arcgis.com/es/pro-app/3.4/arcpy/utility-network/what-is-the-utility-network-module.htm" TargetMode="External"/><Relationship Id="rId5" Type="http://schemas.openxmlformats.org/officeDocument/2006/relationships/hyperlink" Target="https://pro.arcgis.com/es/pro-app/3.4/arcpy/image-analyst/what-is-the-image-analyst-module.htm" TargetMode="External"/><Relationship Id="rId10" Type="http://schemas.openxmlformats.org/officeDocument/2006/relationships/hyperlink" Target="https://pro.arcgis.com/es/pro-app/3.4/arcpy/spatial-analyst/what-is-the-spatial-analyst-module.htm" TargetMode="External"/><Relationship Id="rId4" Type="http://schemas.openxmlformats.org/officeDocument/2006/relationships/hyperlink" Target="https://pro.arcgis.com/es/pro-app/3.4/arcpy/geocoding/what-is-the-geocoding-module.htm" TargetMode="External"/><Relationship Id="rId9" Type="http://schemas.openxmlformats.org/officeDocument/2006/relationships/hyperlink" Target="https://pro.arcgis.com/es/pro-app/3.4/arcpy/sharing/introduction-to-arcpy-sharing.htm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pro.arcgis.com/en/pro-app/latest/arcpy/data-access/searchcursor-class.htm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udecr.maps.arcgis.com/home/item.html?id=152a0011a00b4566a71171fbc411e63e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2B17-FE75-032D-7F58-46E9E50C9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Modelado Espacial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F8797-3585-B2FC-12E8-65B31E45B7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Escuela de Geografía</a:t>
            </a:r>
          </a:p>
          <a:p>
            <a:r>
              <a:rPr lang="es-CR" dirty="0"/>
              <a:t>Prof. Mercedes Chinchilla Valverde</a:t>
            </a:r>
          </a:p>
          <a:p>
            <a:r>
              <a:rPr lang="es-CR" dirty="0"/>
              <a:t>Clase 1 -2024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5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6B8DD-2D47-E508-C7AD-9E93C6E9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Revision</a:t>
            </a:r>
            <a:r>
              <a:rPr lang="es-CR" dirty="0"/>
              <a:t> del Plan del Curso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7BED1-7714-0DFC-56FE-18D21C8DA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Horario: Lunes y Jueves de 10:00 a 13:00</a:t>
            </a:r>
          </a:p>
          <a:p>
            <a:r>
              <a:rPr lang="es-CR" dirty="0"/>
              <a:t>Consulta: Lunes y Jueves de 14:00 a 16:00</a:t>
            </a:r>
          </a:p>
          <a:p>
            <a:r>
              <a:rPr lang="es-CR" dirty="0"/>
              <a:t>Practica usando ArcGIS Pro y Python</a:t>
            </a:r>
          </a:p>
          <a:p>
            <a:r>
              <a:rPr lang="es-CR" dirty="0"/>
              <a:t>Evaluación:</a:t>
            </a:r>
          </a:p>
          <a:p>
            <a:pPr lvl="3"/>
            <a:r>
              <a:rPr lang="es-CR" sz="2400" dirty="0"/>
              <a:t>60% proyectos grupales</a:t>
            </a:r>
          </a:p>
          <a:p>
            <a:pPr lvl="3"/>
            <a:r>
              <a:rPr lang="es-CR" sz="2400" dirty="0"/>
              <a:t>40% examen individual</a:t>
            </a:r>
          </a:p>
          <a:p>
            <a:pPr lvl="3"/>
            <a:endParaRPr lang="es-CR" sz="2400" dirty="0"/>
          </a:p>
          <a:p>
            <a:pPr marL="1371600" lvl="3" indent="0">
              <a:buNone/>
            </a:pPr>
            <a:endParaRPr lang="es-CR" sz="2400" dirty="0"/>
          </a:p>
        </p:txBody>
      </p:sp>
    </p:spTree>
    <p:extLst>
      <p:ext uri="{BB962C8B-B14F-4D97-AF65-F5344CB8AC3E}">
        <p14:creationId xmlns:p14="http://schemas.microsoft.com/office/powerpoint/2010/main" val="141861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C5A598-6CB2-5A80-3539-102D8822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1. ¿Qué es Python?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C49A4-795B-743B-F904-764BD64F1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Python es un lenguaje de programación interpretado de alto nivel, lo que significa que el código fuente es traducido a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bytecode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 y luego ejecutado por un intérprete. Es conocido por su sintaxis clara y legible, lo que lo hace ideal para proyectos de cualquier tamaño y nivel de complejidad.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78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519DE-DD2F-9FA3-E51E-8FEDC4757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2.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Instalación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 de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21D3-7571-239D-E2E1-C95A5EE90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Puedes descargar e instalar Python desde el sitio web oficial (https://www.python.org/). Una vez instalado, puedes verificar la versión de Python instalada abriendo una terminal o símbolo del sistema y ejecutando el comando </a:t>
            </a:r>
            <a:r>
              <a:rPr lang="es-ES" dirty="0" err="1"/>
              <a:t>python</a:t>
            </a:r>
            <a:r>
              <a:rPr lang="es-ES" dirty="0"/>
              <a:t> --</a:t>
            </a:r>
            <a:r>
              <a:rPr lang="es-ES" dirty="0" err="1"/>
              <a:t>version</a:t>
            </a:r>
            <a:r>
              <a:rPr lang="es-ES" dirty="0"/>
              <a:t>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CCC1C5-6F14-E357-08EC-54A0A029C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793" y="3869536"/>
            <a:ext cx="5159187" cy="20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19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9869-2849-E9F8-7429-CF586486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3. Entornos de desarrollo integrados (</a:t>
            </a:r>
            <a:r>
              <a:rPr lang="es-ES" b="1" i="0" dirty="0" err="1">
                <a:solidFill>
                  <a:srgbClr val="0D0D0D"/>
                </a:solidFill>
                <a:effectLst/>
                <a:latin typeface="Söhne"/>
              </a:rPr>
              <a:t>IDEs</a:t>
            </a: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48B52-573A-9394-0C6C-E2ACFC627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Los Entornos de Desarrollo Integrados (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IDEs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) proporcionan un conjunto completo de herramientas para escribir, depurar y ejecutar código Python de manera eficiente. Además de los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IDEs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 tradicionales, los Notebooks ofrecen una forma interactiva y colaborativa de trabajar con Python. Aquí hay una breve descripción de ambos: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rgbClr val="0D0D0D"/>
                </a:solidFill>
                <a:effectLst/>
                <a:latin typeface="Söhne"/>
              </a:rPr>
              <a:t>IDEs</a:t>
            </a: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 (</a:t>
            </a:r>
            <a:r>
              <a:rPr lang="es-ES" b="1" i="0" dirty="0" err="1">
                <a:solidFill>
                  <a:srgbClr val="0D0D0D"/>
                </a:solidFill>
                <a:effectLst/>
                <a:latin typeface="Söhne"/>
              </a:rPr>
              <a:t>Integrated</a:t>
            </a: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s-ES" b="1" i="0" dirty="0" err="1">
                <a:solidFill>
                  <a:srgbClr val="0D0D0D"/>
                </a:solidFill>
                <a:effectLst/>
                <a:latin typeface="Söhne"/>
              </a:rPr>
              <a:t>Development</a:t>
            </a: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s-ES" b="1" i="0" dirty="0" err="1">
                <a:solidFill>
                  <a:srgbClr val="0D0D0D"/>
                </a:solidFill>
                <a:effectLst/>
                <a:latin typeface="Söhne"/>
              </a:rPr>
              <a:t>Environments</a:t>
            </a: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)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Ejemplos: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PyCharm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, Visual Studio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Code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Características: Resaltado de sintaxis, completado automático de código, depuración integrada, gestión de proyectos, control de versiones.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Uso: Ideal para desarrollo de software a gran escala, proyectos complejos y trabajo en equipo.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Notebooks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Ejemplos: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Jupyter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 Notebooks, Google </a:t>
            </a:r>
            <a:r>
              <a:rPr lang="es-ES" b="0" i="0" dirty="0" err="1">
                <a:solidFill>
                  <a:srgbClr val="0D0D0D"/>
                </a:solidFill>
                <a:effectLst/>
                <a:latin typeface="Söhne"/>
              </a:rPr>
              <a:t>Colab</a:t>
            </a: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Características: Documentos interactivos que combinan código, visualizaciones y texto explicativo.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Uso: Exploración y análisis de datos, prototipado rápido, educación y enseñanza.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D0D0D"/>
                </a:solidFill>
                <a:effectLst/>
                <a:latin typeface="Söhne"/>
              </a:rPr>
              <a:t>Ventajas: Facilitan la visualización de datos, el intercambio de resultados y la narración de procesos de análisis.</a:t>
            </a:r>
          </a:p>
        </p:txBody>
      </p:sp>
    </p:spTree>
    <p:extLst>
      <p:ext uri="{BB962C8B-B14F-4D97-AF65-F5344CB8AC3E}">
        <p14:creationId xmlns:p14="http://schemas.microsoft.com/office/powerpoint/2010/main" val="332078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F0A07-36B0-607B-2B86-0FAFA412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i="0" dirty="0">
                <a:solidFill>
                  <a:srgbClr val="0D0D0D"/>
                </a:solidFill>
                <a:effectLst/>
                <a:latin typeface="Söhne"/>
              </a:rPr>
              <a:t>4. Variables y Tipos de Datos Básicos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EEE87-DA52-5233-3478-F03DBB950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# Ejemplo de variables y tipos de datos básicos</a:t>
            </a:r>
          </a:p>
          <a:p>
            <a:pPr marL="0" indent="0">
              <a:buNone/>
            </a:pPr>
            <a:r>
              <a:rPr lang="es-ES" dirty="0"/>
              <a:t>nombre = "Juan"  # Cadena de caracteres (</a:t>
            </a:r>
            <a:r>
              <a:rPr lang="es-ES" dirty="0" err="1"/>
              <a:t>string</a:t>
            </a:r>
            <a:r>
              <a:rPr lang="es-ES" dirty="0"/>
              <a:t>)</a:t>
            </a:r>
          </a:p>
          <a:p>
            <a:pPr marL="0" indent="0">
              <a:buNone/>
            </a:pPr>
            <a:r>
              <a:rPr lang="es-ES" dirty="0"/>
              <a:t>edad = 25        # Entero (</a:t>
            </a:r>
            <a:r>
              <a:rPr lang="es-ES" dirty="0" err="1"/>
              <a:t>integer</a:t>
            </a:r>
            <a:r>
              <a:rPr lang="es-ES" dirty="0"/>
              <a:t>)</a:t>
            </a:r>
          </a:p>
          <a:p>
            <a:pPr marL="0" indent="0">
              <a:buNone/>
            </a:pPr>
            <a:r>
              <a:rPr lang="es-ES" dirty="0"/>
              <a:t>altura = 1.75    # Flotante (</a:t>
            </a:r>
            <a:r>
              <a:rPr lang="es-ES" dirty="0" err="1"/>
              <a:t>float</a:t>
            </a:r>
            <a:r>
              <a:rPr lang="es-ES" dirty="0"/>
              <a:t>)</a:t>
            </a:r>
          </a:p>
          <a:p>
            <a:pPr marL="0" indent="0">
              <a:buNone/>
            </a:pPr>
            <a:r>
              <a:rPr lang="es-ES" dirty="0" err="1"/>
              <a:t>es_estudiante</a:t>
            </a:r>
            <a:r>
              <a:rPr lang="es-ES" dirty="0"/>
              <a:t> = True  # Booleano (</a:t>
            </a:r>
            <a:r>
              <a:rPr lang="es-ES" dirty="0" err="1"/>
              <a:t>boolean</a:t>
            </a:r>
            <a:r>
              <a:rPr lang="es-E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118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E04E-ADA3-C82A-AD60-AED93889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5.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Operadores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Aritméticos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CA6B0-0AFD-F7C5-01B2-7DC9E948C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dirty="0" err="1"/>
              <a:t>Ejemplo</a:t>
            </a:r>
            <a:r>
              <a:rPr lang="en-US" dirty="0"/>
              <a:t> de </a:t>
            </a:r>
            <a:r>
              <a:rPr lang="en-US" dirty="0" err="1"/>
              <a:t>operadores</a:t>
            </a:r>
            <a:r>
              <a:rPr lang="en-US" dirty="0"/>
              <a:t> </a:t>
            </a:r>
            <a:r>
              <a:rPr lang="en-US" dirty="0" err="1"/>
              <a:t>aritméticos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= 10</a:t>
            </a:r>
          </a:p>
          <a:p>
            <a:pPr marL="0" indent="0">
              <a:buNone/>
            </a:pPr>
            <a:r>
              <a:rPr lang="en-US" dirty="0"/>
              <a:t>b = 5</a:t>
            </a:r>
          </a:p>
          <a:p>
            <a:pPr marL="0" indent="0">
              <a:buNone/>
            </a:pPr>
            <a:r>
              <a:rPr lang="en-US" dirty="0" err="1"/>
              <a:t>suma</a:t>
            </a:r>
            <a:r>
              <a:rPr lang="en-US" dirty="0"/>
              <a:t> = a + b          # 15</a:t>
            </a:r>
          </a:p>
          <a:p>
            <a:pPr marL="0" indent="0">
              <a:buNone/>
            </a:pPr>
            <a:r>
              <a:rPr lang="en-US" dirty="0" err="1"/>
              <a:t>resta</a:t>
            </a:r>
            <a:r>
              <a:rPr lang="en-US" dirty="0"/>
              <a:t> = a - b         # 5</a:t>
            </a:r>
          </a:p>
          <a:p>
            <a:pPr marL="0" indent="0">
              <a:buNone/>
            </a:pPr>
            <a:r>
              <a:rPr lang="en-US" dirty="0" err="1"/>
              <a:t>multiplicacion</a:t>
            </a:r>
            <a:r>
              <a:rPr lang="en-US" dirty="0"/>
              <a:t> = a * b   # 50</a:t>
            </a:r>
          </a:p>
          <a:p>
            <a:pPr marL="0" indent="0">
              <a:buNone/>
            </a:pPr>
            <a:r>
              <a:rPr lang="en-US" dirty="0"/>
              <a:t>division = a / b      # 2.0</a:t>
            </a:r>
          </a:p>
          <a:p>
            <a:pPr marL="0" indent="0">
              <a:buNone/>
            </a:pPr>
            <a:r>
              <a:rPr lang="en-US" dirty="0"/>
              <a:t>modulo = a % b        #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77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236C-671A-509C-D2BE-F335C54EB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6.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Impresión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 de Salida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783E-0CB7-272E-6B4C-1B43F4D1A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# Ejemplo de impresión de salida</a:t>
            </a:r>
          </a:p>
          <a:p>
            <a:pPr marL="0" indent="0">
              <a:buNone/>
            </a:pPr>
            <a:r>
              <a:rPr lang="es-ES" dirty="0"/>
              <a:t>nombre = "Juan"</a:t>
            </a:r>
          </a:p>
          <a:p>
            <a:pPr marL="0" indent="0">
              <a:buNone/>
            </a:pPr>
            <a:r>
              <a:rPr lang="es-ES" dirty="0" err="1"/>
              <a:t>print</a:t>
            </a:r>
            <a:r>
              <a:rPr lang="es-ES" dirty="0"/>
              <a:t>("Hola,", nombre)  # Salida: Hola, Juan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0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03B2-81C3-9C51-4A41-550D9C20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7.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Söhne"/>
              </a:rPr>
              <a:t>Comentarios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F48B3-E3BE-9F92-2AA6-C65B02F43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0" i="0" dirty="0">
                <a:effectLst/>
                <a:latin typeface="Söhne Mono"/>
              </a:rPr>
              <a:t># Ejemplo de comentarios</a:t>
            </a:r>
            <a:r>
              <a:rPr lang="es-E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</a:p>
          <a:p>
            <a:pPr marL="0" indent="0">
              <a:buNone/>
            </a:pPr>
            <a:r>
              <a:rPr lang="es-ES" b="0" i="0" dirty="0">
                <a:effectLst/>
                <a:latin typeface="Söhne Mono"/>
              </a:rPr>
              <a:t># Esta es una línea de comentario</a:t>
            </a:r>
            <a:r>
              <a:rPr lang="es-E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</a:p>
          <a:p>
            <a:pPr marL="0" indent="0">
              <a:buNone/>
            </a:pPr>
            <a:r>
              <a:rPr lang="es-ES" b="0" i="0" dirty="0">
                <a:effectLst/>
                <a:latin typeface="Söhne Mono"/>
              </a:rPr>
              <a:t># Los comentarios se utilizan para explicar el código y hacerlo más comprensible</a:t>
            </a:r>
            <a:r>
              <a:rPr lang="es-E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</a:p>
          <a:p>
            <a:pPr marL="0" indent="0">
              <a:buNone/>
            </a:pPr>
            <a:endParaRPr lang="es-ES" dirty="0">
              <a:solidFill>
                <a:srgbClr val="FFFFFF"/>
              </a:solidFill>
              <a:latin typeface="Söhne Mono"/>
            </a:endParaRPr>
          </a:p>
          <a:p>
            <a:pPr marL="0" indent="0">
              <a:buNone/>
            </a:pPr>
            <a:r>
              <a:rPr lang="es-ES" b="0" i="0" dirty="0">
                <a:solidFill>
                  <a:srgbClr val="00A67D"/>
                </a:solidFill>
                <a:effectLst/>
                <a:latin typeface="Söhne Mono"/>
              </a:rPr>
              <a:t>""" Este es un comentario de varias líneas. Puede ser útil para describir bloques de código más grandes o documentar funciones. """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80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E7B6-08DE-DA77-DECE-713616410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8. Control de Flujo: Condicionales (</a:t>
            </a:r>
            <a:r>
              <a:rPr lang="es-ES" dirty="0" err="1"/>
              <a:t>if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A5906-0D05-CC49-69DC-5C8BA5F41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/>
              <a:t>Condicionales (</a:t>
            </a:r>
            <a:r>
              <a:rPr lang="es-ES" b="1" dirty="0" err="1"/>
              <a:t>if</a:t>
            </a:r>
            <a:r>
              <a:rPr lang="es-ES" b="1" dirty="0"/>
              <a:t>):</a:t>
            </a:r>
          </a:p>
          <a:p>
            <a:r>
              <a:rPr lang="es-ES" dirty="0"/>
              <a:t>Los condicionales permiten que un programa tome decisiones basadas en ciertas condiciones.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8BF9B5-D3D6-1996-F787-386A596E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252" y="3595761"/>
            <a:ext cx="7331075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94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E1649-8402-14CB-2DA5-A8F917C8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Control de Flujo: Condicionales (</a:t>
            </a:r>
            <a:r>
              <a:rPr lang="es-ES" dirty="0" err="1"/>
              <a:t>if</a:t>
            </a:r>
            <a:r>
              <a:rPr lang="es-ES" dirty="0"/>
              <a:t>) y Bucles (</a:t>
            </a:r>
            <a:r>
              <a:rPr lang="es-ES" dirty="0" err="1"/>
              <a:t>for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9D302-222E-4613-6232-F2F8ACB4C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422DC-0E2C-4580-5F73-6FBF8E4AD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005" y="2647528"/>
            <a:ext cx="6980525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94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DDD2-9D15-A111-F55D-BBE6CC835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Control de Flujo: Bucles (</a:t>
            </a:r>
            <a:r>
              <a:rPr lang="es-ES" dirty="0" err="1"/>
              <a:t>for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3F86F-8AD6-4599-C309-5944609CF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Bucles</a:t>
            </a:r>
            <a:r>
              <a:rPr lang="en-US" b="1" dirty="0"/>
              <a:t> (for): </a:t>
            </a:r>
            <a:r>
              <a:rPr lang="es-ES" dirty="0"/>
              <a:t>Los bucles permiten ejecutar un bloque de código repetidamente.</a:t>
            </a:r>
          </a:p>
          <a:p>
            <a:r>
              <a:rPr lang="es-ES" dirty="0"/>
              <a:t>El bucle </a:t>
            </a:r>
            <a:r>
              <a:rPr lang="es-ES" dirty="0" err="1"/>
              <a:t>for</a:t>
            </a:r>
            <a:r>
              <a:rPr lang="es-ES" dirty="0"/>
              <a:t> se utiliza para iterar sobre una secuencia (por ejemplo, una lista, una tupla, un rango) y ejecutar un bloque de código para cada elemento en la secuencia.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94E70B-D799-8E5B-47BE-619A7F0B1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142" y="4241476"/>
            <a:ext cx="7171041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1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E3F3-9EE3-8599-56D8-52AB8F75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8. Control de Flujo: Bucles (</a:t>
            </a:r>
            <a:r>
              <a:rPr lang="es-ES" dirty="0" err="1"/>
              <a:t>for</a:t>
            </a:r>
            <a:r>
              <a:rPr lang="es-ES" dirty="0"/>
              <a:t>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BF3442-82D4-1A5C-F858-67B17A45C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9183" y="2266659"/>
            <a:ext cx="7102455" cy="1310754"/>
          </a:xfrm>
        </p:spPr>
      </p:pic>
    </p:spTree>
    <p:extLst>
      <p:ext uri="{BB962C8B-B14F-4D97-AF65-F5344CB8AC3E}">
        <p14:creationId xmlns:p14="http://schemas.microsoft.com/office/powerpoint/2010/main" val="638232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4C91-3823-5CE0-5E91-9AE6E508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Listas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32960-2FAA-D0D4-1812-28F2BC993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Una lista es una secuencias ordenadas de objetos de distintos tipos.</a:t>
            </a:r>
          </a:p>
          <a:p>
            <a:endParaRPr lang="es-MX" dirty="0"/>
          </a:p>
          <a:p>
            <a:r>
              <a:rPr lang="es-MX" dirty="0"/>
              <a:t>Se construyen poniendo los elementos entre corchetes [ ] separados por comas.</a:t>
            </a:r>
          </a:p>
          <a:p>
            <a:endParaRPr lang="es-MX" dirty="0"/>
          </a:p>
          <a:p>
            <a:r>
              <a:rPr lang="es-MX" dirty="0"/>
              <a:t>Se caracterizan por:</a:t>
            </a:r>
          </a:p>
          <a:p>
            <a:pPr lvl="1"/>
            <a:r>
              <a:rPr lang="es-MX" dirty="0"/>
              <a:t>Tienen orden.</a:t>
            </a:r>
          </a:p>
          <a:p>
            <a:pPr lvl="1"/>
            <a:r>
              <a:rPr lang="es-MX" dirty="0"/>
              <a:t>Pueden contener elementos de distintos tipos.</a:t>
            </a:r>
          </a:p>
          <a:p>
            <a:pPr lvl="1"/>
            <a:r>
              <a:rPr lang="es-MX" dirty="0"/>
              <a:t>Son mutables, es decir, pueden alterarse durante la ejecución de un programa.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877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E154-2B9D-E462-04CB-5428A31F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Listas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6E4C9-D7E2-7603-AF9F-3F68E3C0E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# Lista vacía</a:t>
            </a:r>
          </a:p>
          <a:p>
            <a:pPr marL="0" indent="0" algn="just">
              <a:buNone/>
            </a:pPr>
            <a:r>
              <a:rPr lang="es-MX" dirty="0"/>
              <a:t>&gt;&gt;&gt; </a:t>
            </a:r>
            <a:r>
              <a:rPr lang="es-MX" dirty="0" err="1"/>
              <a:t>type</a:t>
            </a:r>
            <a:r>
              <a:rPr lang="es-MX" dirty="0"/>
              <a:t>([])</a:t>
            </a:r>
          </a:p>
          <a:p>
            <a:pPr marL="0" indent="0" algn="just">
              <a:buNone/>
            </a:pPr>
            <a:r>
              <a:rPr lang="es-MX" dirty="0"/>
              <a:t>		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&lt;</a:t>
            </a:r>
            <a:r>
              <a:rPr lang="es-MX" dirty="0" err="1">
                <a:solidFill>
                  <a:schemeClr val="accent2">
                    <a:lumMod val="75000"/>
                  </a:schemeClr>
                </a:solidFill>
              </a:rPr>
              <a:t>class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 '</a:t>
            </a:r>
            <a:r>
              <a:rPr lang="es-MX" dirty="0" err="1">
                <a:solidFill>
                  <a:schemeClr val="accent2">
                    <a:lumMod val="75000"/>
                  </a:schemeClr>
                </a:solidFill>
              </a:rPr>
              <a:t>list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'&gt;</a:t>
            </a:r>
          </a:p>
          <a:p>
            <a:pPr marL="0" indent="0" algn="just">
              <a:buNone/>
            </a:pPr>
            <a:r>
              <a:rPr lang="es-MX" dirty="0"/>
              <a:t># Lista con elementos de distintos tipos</a:t>
            </a:r>
          </a:p>
          <a:p>
            <a:pPr marL="0" indent="0" algn="just">
              <a:buNone/>
            </a:pPr>
            <a:r>
              <a:rPr lang="es-MX" dirty="0"/>
              <a:t>&gt;&gt;&gt; [1, "dos", True]</a:t>
            </a:r>
          </a:p>
          <a:p>
            <a:pPr marL="0" indent="0" algn="just">
              <a:buNone/>
            </a:pPr>
            <a:r>
              <a:rPr lang="es-MX" dirty="0"/>
              <a:t># Listas anidadas</a:t>
            </a:r>
          </a:p>
          <a:p>
            <a:pPr marL="0" indent="0" algn="just">
              <a:buNone/>
            </a:pPr>
            <a:r>
              <a:rPr lang="es-MX" dirty="0"/>
              <a:t>&gt;&gt;&gt; [1, [2, 3], 4]</a:t>
            </a:r>
          </a:p>
        </p:txBody>
      </p:sp>
    </p:spTree>
    <p:extLst>
      <p:ext uri="{BB962C8B-B14F-4D97-AF65-F5344CB8AC3E}">
        <p14:creationId xmlns:p14="http://schemas.microsoft.com/office/powerpoint/2010/main" val="4103735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1F79-1C55-125C-A78F-6BA82BA69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Creación de listas mediante la función </a:t>
            </a:r>
            <a:r>
              <a:rPr lang="es-MX" b="1" dirty="0" err="1"/>
              <a:t>list</a:t>
            </a:r>
            <a:r>
              <a:rPr lang="es-MX" b="1" dirty="0"/>
              <a:t>()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E894C-57CC-E4D0-8465-656FD96BA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Otra forma de crear listas es mediante la función </a:t>
            </a:r>
            <a:r>
              <a:rPr lang="es-MX" dirty="0" err="1"/>
              <a:t>list</a:t>
            </a:r>
            <a:r>
              <a:rPr lang="es-MX" dirty="0"/>
              <a:t>().</a:t>
            </a:r>
          </a:p>
          <a:p>
            <a:r>
              <a:rPr lang="es-MX" dirty="0" err="1"/>
              <a:t>list</a:t>
            </a:r>
            <a:r>
              <a:rPr lang="es-MX" dirty="0"/>
              <a:t>(c) : Crea una lista con los elementos de la secuencia o colección c.</a:t>
            </a:r>
          </a:p>
          <a:p>
            <a:r>
              <a:rPr lang="es-MX" dirty="0"/>
              <a:t>Se pueden indicar los elementos separados por comas, mediante una cadena, o mediante una colección de elementos iterable.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58756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3631-C0FC-9CD2-C14B-CDE3B6B2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Creación de listas mediante la función </a:t>
            </a:r>
            <a:r>
              <a:rPr lang="es-MX" b="1" dirty="0" err="1"/>
              <a:t>list</a:t>
            </a:r>
            <a:r>
              <a:rPr lang="es-MX" b="1" dirty="0"/>
              <a:t>()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6DBFC-072A-310B-561A-191D282D1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&gt;&gt;&gt; </a:t>
            </a:r>
            <a:r>
              <a:rPr lang="es-MX" dirty="0" err="1"/>
              <a:t>list</a:t>
            </a:r>
            <a:r>
              <a:rPr lang="es-MX" dirty="0"/>
              <a:t>()</a:t>
            </a:r>
          </a:p>
          <a:p>
            <a:pPr algn="just"/>
            <a:r>
              <a:rPr lang="es-MX" dirty="0"/>
              <a:t>[]</a:t>
            </a:r>
          </a:p>
          <a:p>
            <a:pPr algn="just"/>
            <a:r>
              <a:rPr lang="es-MX" dirty="0"/>
              <a:t>&gt;&gt;&gt; </a:t>
            </a:r>
            <a:r>
              <a:rPr lang="es-MX" dirty="0" err="1"/>
              <a:t>list</a:t>
            </a:r>
            <a:r>
              <a:rPr lang="es-MX" dirty="0"/>
              <a:t>(1, 2, 3)</a:t>
            </a:r>
          </a:p>
          <a:p>
            <a:pPr algn="just"/>
            <a:r>
              <a:rPr lang="es-MX" dirty="0"/>
              <a:t>[1, 2, 3]</a:t>
            </a:r>
          </a:p>
          <a:p>
            <a:pPr algn="just"/>
            <a:r>
              <a:rPr lang="es-MX" dirty="0"/>
              <a:t>&gt;&gt;&gt; </a:t>
            </a:r>
            <a:r>
              <a:rPr lang="es-MX" dirty="0" err="1"/>
              <a:t>list</a:t>
            </a:r>
            <a:r>
              <a:rPr lang="es-MX" dirty="0"/>
              <a:t>("Python")</a:t>
            </a:r>
          </a:p>
        </p:txBody>
      </p:sp>
    </p:spTree>
    <p:extLst>
      <p:ext uri="{BB962C8B-B14F-4D97-AF65-F5344CB8AC3E}">
        <p14:creationId xmlns:p14="http://schemas.microsoft.com/office/powerpoint/2010/main" val="1437761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3D6A-5225-897B-78CD-71535E50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Sublistas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00B5E-DB4B-93D2-897D-D69DDC0D2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MX" sz="5100" dirty="0"/>
              <a:t>l[</a:t>
            </a:r>
            <a:r>
              <a:rPr lang="es-MX" sz="5100" dirty="0" err="1"/>
              <a:t>i:j:k</a:t>
            </a:r>
            <a:r>
              <a:rPr lang="es-MX" sz="5100" dirty="0"/>
              <a:t>] : Devuelve la </a:t>
            </a:r>
            <a:r>
              <a:rPr lang="es-MX" sz="5100" dirty="0" err="1"/>
              <a:t>sublista</a:t>
            </a:r>
            <a:r>
              <a:rPr lang="es-MX" sz="5100" dirty="0"/>
              <a:t> desde el elemento de l con el índice i hasta el elemento anterior al índice j, tomando elementos cada k.</a:t>
            </a:r>
          </a:p>
          <a:p>
            <a:endParaRPr lang="es-MX" dirty="0"/>
          </a:p>
          <a:p>
            <a:pPr marL="0" indent="0" algn="just">
              <a:buNone/>
            </a:pPr>
            <a:r>
              <a:rPr lang="es-MX" dirty="0"/>
              <a:t>&gt;&gt;&gt; a = ['P', 'y', 't', 'h', 'o', 'n']</a:t>
            </a:r>
          </a:p>
          <a:p>
            <a:pPr marL="0" indent="0" algn="just">
              <a:buNone/>
            </a:pPr>
            <a:r>
              <a:rPr lang="es-MX" dirty="0"/>
              <a:t>&gt;&gt;&gt; a[1:4]</a:t>
            </a:r>
          </a:p>
          <a:p>
            <a:pPr marL="0" indent="0" algn="just">
              <a:buNone/>
            </a:pPr>
            <a:r>
              <a:rPr lang="es-MX" dirty="0"/>
              <a:t>['y', 't', 'h']</a:t>
            </a:r>
          </a:p>
          <a:p>
            <a:pPr marL="0" indent="0" algn="just">
              <a:buNone/>
            </a:pPr>
            <a:r>
              <a:rPr lang="es-MX" dirty="0"/>
              <a:t>&gt;&gt;&gt; a[1:1]</a:t>
            </a:r>
          </a:p>
          <a:p>
            <a:pPr marL="0" indent="0" algn="just">
              <a:buNone/>
            </a:pPr>
            <a:r>
              <a:rPr lang="es-MX" dirty="0"/>
              <a:t>[]</a:t>
            </a:r>
          </a:p>
          <a:p>
            <a:pPr marL="0" indent="0" algn="just">
              <a:buNone/>
            </a:pPr>
            <a:r>
              <a:rPr lang="es-MX" dirty="0"/>
              <a:t>&gt;&gt;&gt; a[:-3]</a:t>
            </a:r>
          </a:p>
          <a:p>
            <a:pPr marL="0" indent="0" algn="just">
              <a:buNone/>
            </a:pPr>
            <a:r>
              <a:rPr lang="es-MX" dirty="0"/>
              <a:t>['y', 't', 'h']</a:t>
            </a:r>
          </a:p>
          <a:p>
            <a:pPr marL="0" indent="0" algn="just">
              <a:buNone/>
            </a:pPr>
            <a:r>
              <a:rPr lang="es-MX" dirty="0"/>
              <a:t>&gt;&gt;&gt; a[:]</a:t>
            </a:r>
          </a:p>
          <a:p>
            <a:pPr marL="0" indent="0" algn="just">
              <a:buNone/>
            </a:pPr>
            <a:r>
              <a:rPr lang="es-MX" dirty="0"/>
              <a:t>['P', 'y', 't', 'h', 'o', 'n']</a:t>
            </a:r>
          </a:p>
          <a:p>
            <a:pPr marL="0" indent="0" algn="just">
              <a:buNone/>
            </a:pPr>
            <a:r>
              <a:rPr lang="es-MX" dirty="0"/>
              <a:t>&gt;&gt;&gt; a[0:6:2]</a:t>
            </a:r>
          </a:p>
        </p:txBody>
      </p:sp>
    </p:spTree>
    <p:extLst>
      <p:ext uri="{BB962C8B-B14F-4D97-AF65-F5344CB8AC3E}">
        <p14:creationId xmlns:p14="http://schemas.microsoft.com/office/powerpoint/2010/main" val="1567010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DCB0-B605-E546-2B6A-135346292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Acceso a los elementos de una lista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E6242-7CA2-2156-8920-51661500E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utilizan los mismos operadores de acceso que para cadenas de caracteres.</a:t>
            </a:r>
          </a:p>
          <a:p>
            <a:r>
              <a:rPr lang="es-MX" dirty="0"/>
              <a:t>l[i] : Devuelve el elemento de la lista l con el índice i.</a:t>
            </a:r>
          </a:p>
          <a:p>
            <a:r>
              <a:rPr lang="es-MX" sz="3200" b="1" dirty="0">
                <a:solidFill>
                  <a:schemeClr val="accent2">
                    <a:lumMod val="75000"/>
                  </a:schemeClr>
                </a:solidFill>
              </a:rPr>
              <a:t> </a:t>
            </a:r>
            <a:r>
              <a:rPr lang="es-MX" sz="3200" b="1" i="1" dirty="0">
                <a:solidFill>
                  <a:schemeClr val="accent2">
                    <a:lumMod val="75000"/>
                  </a:schemeClr>
                </a:solidFill>
              </a:rPr>
              <a:t>El índice del primer elemento de la lista es 0.</a:t>
            </a:r>
            <a:endParaRPr lang="es-MX" sz="32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80406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0D36-D510-BBE2-1F87-FC4A271A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Tuplas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384F4-5840-BA41-393E-0CAA7B954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Una </a:t>
            </a:r>
            <a:r>
              <a:rPr lang="es-MX" b="1" dirty="0"/>
              <a:t>tupla</a:t>
            </a:r>
            <a:r>
              <a:rPr lang="es-MX" dirty="0"/>
              <a:t> es una secuencias ordenadas de objetos de distintos tipos.</a:t>
            </a:r>
          </a:p>
          <a:p>
            <a:r>
              <a:rPr lang="es-MX" dirty="0"/>
              <a:t>Se construyen poniendo los elementos entre corchetes ( ) separados por comas.</a:t>
            </a:r>
          </a:p>
          <a:p>
            <a:r>
              <a:rPr lang="es-MX" dirty="0"/>
              <a:t>Se caracterizan por:</a:t>
            </a:r>
          </a:p>
          <a:p>
            <a:r>
              <a:rPr lang="es-MX" dirty="0"/>
              <a:t>Tienen orden.</a:t>
            </a:r>
          </a:p>
          <a:p>
            <a:r>
              <a:rPr lang="es-MX" dirty="0"/>
              <a:t>Pueden contener elementos de distintos tipos.</a:t>
            </a:r>
          </a:p>
          <a:p>
            <a:r>
              <a:rPr lang="es-MX" dirty="0"/>
              <a:t>Son inmutables, es decir, o pueden alterarse durante la ejecución de un programa.</a:t>
            </a:r>
          </a:p>
        </p:txBody>
      </p:sp>
    </p:spTree>
    <p:extLst>
      <p:ext uri="{BB962C8B-B14F-4D97-AF65-F5344CB8AC3E}">
        <p14:creationId xmlns:p14="http://schemas.microsoft.com/office/powerpoint/2010/main" val="3575290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03E21-9C04-8293-80A6-E248BB42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86C7-14AF-EFD2-5AA6-AA6DF5E5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Tuplas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C38B7-9A6A-1A41-4634-87DBE8BA5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# Tupla vacía</a:t>
            </a:r>
          </a:p>
          <a:p>
            <a:pPr marL="0" indent="0" algn="just">
              <a:buNone/>
            </a:pPr>
            <a:r>
              <a:rPr lang="es-MX" dirty="0" err="1"/>
              <a:t>type</a:t>
            </a:r>
            <a:r>
              <a:rPr lang="es-MX" dirty="0"/>
              <a:t>(())</a:t>
            </a:r>
          </a:p>
          <a:p>
            <a:pPr marL="0" indent="0" algn="just">
              <a:buNone/>
            </a:pPr>
            <a:r>
              <a:rPr lang="es-MX" dirty="0"/>
              <a:t>&lt;</a:t>
            </a:r>
            <a:r>
              <a:rPr lang="es-MX" dirty="0" err="1"/>
              <a:t>class</a:t>
            </a:r>
            <a:r>
              <a:rPr lang="es-MX" dirty="0"/>
              <a:t> '</a:t>
            </a:r>
            <a:r>
              <a:rPr lang="es-MX" dirty="0" err="1"/>
              <a:t>tuple</a:t>
            </a:r>
            <a:r>
              <a:rPr lang="es-MX" dirty="0"/>
              <a:t>'&gt;</a:t>
            </a:r>
          </a:p>
          <a:p>
            <a:pPr marL="0" indent="0" algn="just">
              <a:buNone/>
            </a:pPr>
            <a:r>
              <a:rPr lang="es-MX" dirty="0"/>
              <a:t># Tupla con elementos de distintos tipos</a:t>
            </a:r>
          </a:p>
          <a:p>
            <a:pPr marL="0" indent="0" algn="just">
              <a:buNone/>
            </a:pPr>
            <a:r>
              <a:rPr lang="es-MX" dirty="0"/>
              <a:t>(1, "dos", True)</a:t>
            </a:r>
          </a:p>
          <a:p>
            <a:pPr marL="0" indent="0" algn="just">
              <a:buNone/>
            </a:pPr>
            <a:r>
              <a:rPr lang="es-MX" dirty="0"/>
              <a:t># Vector</a:t>
            </a:r>
          </a:p>
          <a:p>
            <a:pPr marL="0" indent="0" algn="just">
              <a:buNone/>
            </a:pPr>
            <a:r>
              <a:rPr lang="es-MX" dirty="0"/>
              <a:t>(1, 2, 3)</a:t>
            </a:r>
          </a:p>
          <a:p>
            <a:pPr marL="0" indent="0" algn="just">
              <a:buNone/>
            </a:pPr>
            <a:r>
              <a:rPr lang="es-MX" dirty="0"/>
              <a:t># Matriz</a:t>
            </a:r>
          </a:p>
          <a:p>
            <a:pPr marL="0" indent="0" algn="just">
              <a:buNone/>
            </a:pPr>
            <a:r>
              <a:rPr lang="es-MX" dirty="0"/>
              <a:t>((1, 2, 3), (4, 5, 6))</a:t>
            </a:r>
          </a:p>
        </p:txBody>
      </p:sp>
    </p:spTree>
    <p:extLst>
      <p:ext uri="{BB962C8B-B14F-4D97-AF65-F5344CB8AC3E}">
        <p14:creationId xmlns:p14="http://schemas.microsoft.com/office/powerpoint/2010/main" val="2801160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4DE5-B720-BD3B-56AF-400C7AE2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Operaciones que no modifican una lista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84810-8D85-0426-1068-73AD8D22E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MX" sz="2400" dirty="0" err="1"/>
              <a:t>len</a:t>
            </a:r>
            <a:r>
              <a:rPr lang="es-MX" sz="2400" dirty="0"/>
              <a:t>(l) : Devuelve el número de elementos de la lista l.</a:t>
            </a:r>
          </a:p>
          <a:p>
            <a:r>
              <a:rPr lang="es-MX" sz="2400" dirty="0"/>
              <a:t>min(l) : Devuelve el mínimo elemento de la lista l siempre que los datos sean comparables.</a:t>
            </a:r>
          </a:p>
          <a:p>
            <a:r>
              <a:rPr lang="es-MX" sz="2400" dirty="0" err="1"/>
              <a:t>max</a:t>
            </a:r>
            <a:r>
              <a:rPr lang="es-MX" sz="2400" dirty="0"/>
              <a:t>(l) : Devuelve el máximo elemento de la lista l siempre que los datos sean comparables.</a:t>
            </a:r>
          </a:p>
          <a:p>
            <a:r>
              <a:rPr lang="es-MX" sz="2400" dirty="0"/>
              <a:t>sum(l) : Devuelve la suma de los elementos de la lista l, siempre que los datos se puedan sumar.</a:t>
            </a:r>
          </a:p>
          <a:p>
            <a:r>
              <a:rPr lang="es-MX" sz="2400" dirty="0"/>
              <a:t>dato in l : Devuelve True si el dato </a:t>
            </a:r>
            <a:r>
              <a:rPr lang="es-MX" sz="2400" dirty="0" err="1"/>
              <a:t>dato</a:t>
            </a:r>
            <a:r>
              <a:rPr lang="es-MX" sz="2400" dirty="0"/>
              <a:t> pertenece a la lista l y False en caso contrario.</a:t>
            </a:r>
          </a:p>
          <a:p>
            <a:r>
              <a:rPr lang="es-MX" sz="2400" dirty="0" err="1"/>
              <a:t>l.index</a:t>
            </a:r>
            <a:r>
              <a:rPr lang="es-MX" sz="2400" dirty="0"/>
              <a:t>(dato) : Devuelve la posición que ocupa en la lista l el primer elemento con valor dato.</a:t>
            </a:r>
          </a:p>
          <a:p>
            <a:r>
              <a:rPr lang="es-MX" sz="2400" dirty="0" err="1"/>
              <a:t>l.count</a:t>
            </a:r>
            <a:r>
              <a:rPr lang="es-MX" sz="2400" dirty="0"/>
              <a:t>(dato) : Devuelve el número de veces que el valor dato está contenido en la lista l.</a:t>
            </a:r>
          </a:p>
          <a:p>
            <a:r>
              <a:rPr lang="es-MX" sz="2400" dirty="0" err="1"/>
              <a:t>all</a:t>
            </a:r>
            <a:r>
              <a:rPr lang="es-MX" sz="2400" dirty="0"/>
              <a:t>(l) : Devuelve True si todos los elementos de la lista l son True y False en caso contrario.</a:t>
            </a:r>
          </a:p>
          <a:p>
            <a:r>
              <a:rPr lang="es-MX" sz="2400" dirty="0" err="1"/>
              <a:t>any</a:t>
            </a:r>
            <a:r>
              <a:rPr lang="es-MX" sz="2400" dirty="0"/>
              <a:t>(l) : Devuelve True si algún elemento de la lista l es True y False en caso contrario.</a:t>
            </a:r>
          </a:p>
        </p:txBody>
      </p:sp>
    </p:spTree>
    <p:extLst>
      <p:ext uri="{BB962C8B-B14F-4D97-AF65-F5344CB8AC3E}">
        <p14:creationId xmlns:p14="http://schemas.microsoft.com/office/powerpoint/2010/main" val="1822382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8713-20F1-65BE-9597-46D92E5E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Geoprocesamiento y 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51896-1D1D-D781-57C9-5F6D67BF3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Python se puede utilizar para automatizar la ejecución de herramientas de geoprocesamiento y para proporcionar la capacidad de crear sus propias herramientas de geoprocesamiento, ya sea como una herramienta de script o como una herramienta de la caja de herramientas de Python.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488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B6AB-4FF7-C696-C006-6FA53B04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Módulos de </a:t>
            </a:r>
            <a:r>
              <a:rPr lang="es-MX" dirty="0" err="1"/>
              <a:t>ArcPy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9F30-B919-F6C5-A69B-81FC02B31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>
                <a:hlinkClick r:id="rId2"/>
              </a:rPr>
              <a:t>Gráficos</a:t>
            </a:r>
            <a:r>
              <a:rPr lang="es-MX" dirty="0"/>
              <a:t> (</a:t>
            </a:r>
            <a:r>
              <a:rPr lang="es-MX" dirty="0" err="1"/>
              <a:t>arcpy.charts</a:t>
            </a:r>
            <a:r>
              <a:rPr lang="es-MX" dirty="0"/>
              <a:t>)</a:t>
            </a:r>
          </a:p>
          <a:p>
            <a:r>
              <a:rPr lang="es-MX" dirty="0">
                <a:hlinkClick r:id="rId3"/>
              </a:rPr>
              <a:t>Acceso a datos</a:t>
            </a:r>
            <a:r>
              <a:rPr lang="es-MX" dirty="0"/>
              <a:t> (</a:t>
            </a:r>
            <a:r>
              <a:rPr lang="es-MX" dirty="0" err="1"/>
              <a:t>arcpy.da</a:t>
            </a:r>
            <a:r>
              <a:rPr lang="es-MX" dirty="0"/>
              <a:t>)</a:t>
            </a:r>
          </a:p>
          <a:p>
            <a:r>
              <a:rPr lang="es-MX" dirty="0">
                <a:hlinkClick r:id="rId4"/>
              </a:rPr>
              <a:t>Geocodificación</a:t>
            </a:r>
            <a:r>
              <a:rPr lang="es-MX" dirty="0"/>
              <a:t> (</a:t>
            </a:r>
            <a:r>
              <a:rPr lang="es-MX" dirty="0" err="1"/>
              <a:t>arcpy.geocoding</a:t>
            </a:r>
            <a:r>
              <a:rPr lang="es-MX" dirty="0"/>
              <a:t>)</a:t>
            </a:r>
          </a:p>
          <a:p>
            <a:r>
              <a:rPr lang="es-MX" dirty="0">
                <a:hlinkClick r:id="rId5"/>
              </a:rPr>
              <a:t>Análisis de imagen</a:t>
            </a:r>
            <a:r>
              <a:rPr lang="es-MX" dirty="0"/>
              <a:t> (</a:t>
            </a:r>
            <a:r>
              <a:rPr lang="es-MX" dirty="0" err="1"/>
              <a:t>arcpy.ia</a:t>
            </a:r>
            <a:r>
              <a:rPr lang="es-MX" dirty="0"/>
              <a:t>)</a:t>
            </a:r>
          </a:p>
          <a:p>
            <a:r>
              <a:rPr lang="es-MX" dirty="0">
                <a:hlinkClick r:id="rId6"/>
              </a:rPr>
              <a:t>Representación cartográfica</a:t>
            </a:r>
            <a:r>
              <a:rPr lang="es-MX" dirty="0"/>
              <a:t> (arcpy.mp)</a:t>
            </a:r>
          </a:p>
          <a:p>
            <a:r>
              <a:rPr lang="es-MX" dirty="0">
                <a:hlinkClick r:id="rId7"/>
              </a:rPr>
              <a:t>Metadatos</a:t>
            </a:r>
            <a:r>
              <a:rPr lang="es-MX" dirty="0"/>
              <a:t> (</a:t>
            </a:r>
            <a:r>
              <a:rPr lang="es-MX" dirty="0" err="1"/>
              <a:t>arcpy.metadata</a:t>
            </a:r>
            <a:r>
              <a:rPr lang="es-MX" dirty="0"/>
              <a:t>)</a:t>
            </a:r>
          </a:p>
          <a:p>
            <a:r>
              <a:rPr lang="es-MX" dirty="0">
                <a:hlinkClick r:id="rId8"/>
              </a:rPr>
              <a:t>Network </a:t>
            </a:r>
            <a:r>
              <a:rPr lang="es-MX" dirty="0" err="1">
                <a:hlinkClick r:id="rId8"/>
              </a:rPr>
              <a:t>Analyst</a:t>
            </a:r>
            <a:r>
              <a:rPr lang="es-MX" dirty="0"/>
              <a:t> (</a:t>
            </a:r>
            <a:r>
              <a:rPr lang="es-MX" dirty="0" err="1"/>
              <a:t>arcpy.nax</a:t>
            </a:r>
            <a:r>
              <a:rPr lang="es-MX" dirty="0"/>
              <a:t> y arcpy.na)</a:t>
            </a:r>
          </a:p>
          <a:p>
            <a:r>
              <a:rPr lang="es-MX" dirty="0">
                <a:hlinkClick r:id="rId9"/>
              </a:rPr>
              <a:t>Uso compartido</a:t>
            </a:r>
            <a:r>
              <a:rPr lang="es-MX" dirty="0"/>
              <a:t> (</a:t>
            </a:r>
            <a:r>
              <a:rPr lang="es-MX" dirty="0" err="1"/>
              <a:t>arcpy.sharing</a:t>
            </a:r>
            <a:r>
              <a:rPr lang="es-MX" dirty="0"/>
              <a:t>)</a:t>
            </a:r>
          </a:p>
          <a:p>
            <a:r>
              <a:rPr lang="es-MX" dirty="0" err="1">
                <a:hlinkClick r:id="rId10"/>
              </a:rPr>
              <a:t>Spatial</a:t>
            </a:r>
            <a:r>
              <a:rPr lang="es-MX" dirty="0">
                <a:hlinkClick r:id="rId10"/>
              </a:rPr>
              <a:t> </a:t>
            </a:r>
            <a:r>
              <a:rPr lang="es-MX" dirty="0" err="1">
                <a:hlinkClick r:id="rId10"/>
              </a:rPr>
              <a:t>Analyst</a:t>
            </a:r>
            <a:r>
              <a:rPr lang="es-MX" dirty="0"/>
              <a:t> (arcpy.sa)</a:t>
            </a:r>
          </a:p>
          <a:p>
            <a:r>
              <a:rPr lang="es-MX" dirty="0">
                <a:hlinkClick r:id="rId11"/>
              </a:rPr>
              <a:t>Red de servicios</a:t>
            </a:r>
            <a:r>
              <a:rPr lang="es-MX" dirty="0"/>
              <a:t> (</a:t>
            </a:r>
            <a:r>
              <a:rPr lang="es-MX" dirty="0" err="1"/>
              <a:t>arcpy.un</a:t>
            </a:r>
            <a:r>
              <a:rPr lang="es-MX" dirty="0"/>
              <a:t>)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75758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F1AB8-8835-9AAB-AEF6-F42AD0CA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SearchCursor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2C134-C850-553A-8E9E-7EBF9CA5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módulo de acceso a datos de </a:t>
            </a:r>
            <a:r>
              <a:rPr lang="es-MX" dirty="0" err="1"/>
              <a:t>Arcpy</a:t>
            </a:r>
            <a:r>
              <a:rPr lang="es-MX" dirty="0"/>
              <a:t> proporciona la clase </a:t>
            </a:r>
            <a:r>
              <a:rPr lang="es-MX" dirty="0" err="1"/>
              <a:t>SearchCursor</a:t>
            </a:r>
            <a:r>
              <a:rPr lang="es-MX" dirty="0"/>
              <a:t>, a partir de la cual se pueden crear objetos cursor para devolver registros de una clase de entidad o tabla. Un </a:t>
            </a:r>
            <a:r>
              <a:rPr lang="es-MX" dirty="0" err="1"/>
              <a:t>SearchCursor</a:t>
            </a:r>
            <a:r>
              <a:rPr lang="es-MX" dirty="0"/>
              <a:t> se puede considerar como un iterador, similar a los que se usan en los bucles </a:t>
            </a:r>
            <a:r>
              <a:rPr lang="es-MX" dirty="0" err="1"/>
              <a:t>for</a:t>
            </a:r>
            <a:r>
              <a:rPr lang="es-MX" dirty="0"/>
              <a:t> o </a:t>
            </a:r>
            <a:r>
              <a:rPr lang="es-MX" dirty="0" err="1"/>
              <a:t>while</a:t>
            </a:r>
            <a:r>
              <a:rPr lang="es-MX" dirty="0"/>
              <a:t>, que devuelve nuevos datos en cada iteración.</a:t>
            </a:r>
          </a:p>
        </p:txBody>
      </p:sp>
    </p:spTree>
    <p:extLst>
      <p:ext uri="{BB962C8B-B14F-4D97-AF65-F5344CB8AC3E}">
        <p14:creationId xmlns:p14="http://schemas.microsoft.com/office/powerpoint/2010/main" val="3251425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C0AC-2850-4306-B442-CB9CCD0D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Recuperar datos de columna usando un </a:t>
            </a:r>
            <a:r>
              <a:rPr lang="es-MX" b="1" dirty="0" err="1"/>
              <a:t>SearchCursor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3A8E2-D2FD-70A3-D958-915928109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MX" dirty="0"/>
              <a:t>Para empezar a trabajar con </a:t>
            </a:r>
            <a:r>
              <a:rPr lang="es-MX" dirty="0" err="1"/>
              <a:t>SearchCursors</a:t>
            </a:r>
            <a:r>
              <a:rPr lang="es-MX" dirty="0"/>
              <a:t>, es importante comprender su sintaxis, que se especifica </a:t>
            </a:r>
            <a:r>
              <a:rPr lang="es-MX" dirty="0">
                <a:hlinkClick r:id="rId2"/>
              </a:rPr>
              <a:t>aquí</a:t>
            </a:r>
            <a:r>
              <a:rPr lang="es-MX" dirty="0"/>
              <a:t> . </a:t>
            </a:r>
            <a:r>
              <a:rPr lang="es-MX" dirty="0" err="1"/>
              <a:t>SearchCursors</a:t>
            </a:r>
            <a:r>
              <a:rPr lang="es-MX" dirty="0"/>
              <a:t> solo requiere dos parámetros: el nombre de una tabla o clase de entidad, seguido de uno o varios nombres de campos (= nombres de columnas) que debe devolver el objeto </a:t>
            </a:r>
            <a:r>
              <a:rPr lang="es-MX" dirty="0" err="1"/>
              <a:t>SearchCursor</a:t>
            </a:r>
            <a:r>
              <a:rPr lang="es-MX" dirty="0"/>
              <a:t>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856009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417AB-297F-E5BB-4579-39E253D0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Datos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4C3CC-81D7-F446-D246-5B9713431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Colocar en la ruta que usted requiera, solo debe cambiar la ruta en el </a:t>
            </a:r>
            <a:r>
              <a:rPr lang="es-MX" dirty="0" err="1"/>
              <a:t>enviroment</a:t>
            </a:r>
            <a:endParaRPr lang="es-MX" dirty="0"/>
          </a:p>
          <a:p>
            <a:r>
              <a:rPr lang="es-MX" dirty="0"/>
              <a:t>Datos: </a:t>
            </a:r>
            <a:r>
              <a:rPr lang="es-MX" dirty="0">
                <a:hlinkClick r:id="rId2"/>
              </a:rPr>
              <a:t>https://udecr.maps.arcgis.com/home/item.html?id=152a0011a00b4566a71171fbc411e63e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3194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C62C-653B-F4D4-2429-55890217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EB5A61-F46E-554E-F262-86A582489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260" y="1447684"/>
            <a:ext cx="7624436" cy="504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178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6B64-9CD5-E47B-5F69-9188CD05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734F-CECA-F8F2-71DB-C7DA3CA46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arcpy</a:t>
            </a:r>
            <a:endParaRPr lang="es-MX" dirty="0"/>
          </a:p>
          <a:p>
            <a:pPr marL="0" indent="0">
              <a:buNone/>
            </a:pPr>
            <a:r>
              <a:rPr lang="es-MX" dirty="0" err="1"/>
              <a:t>import</a:t>
            </a:r>
            <a:r>
              <a:rPr lang="es-MX" dirty="0"/>
              <a:t> os</a:t>
            </a:r>
          </a:p>
          <a:p>
            <a:pPr marL="0" indent="0">
              <a:buNone/>
            </a:pPr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arcpy</a:t>
            </a:r>
            <a:r>
              <a:rPr lang="es-MX" dirty="0"/>
              <a:t> </a:t>
            </a: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env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env.workspace</a:t>
            </a:r>
            <a:r>
              <a:rPr lang="es-MX" dirty="0"/>
              <a:t> = </a:t>
            </a:r>
            <a:r>
              <a:rPr lang="es-MX" dirty="0" err="1">
                <a:solidFill>
                  <a:schemeClr val="accent2">
                    <a:lumMod val="75000"/>
                  </a:schemeClr>
                </a:solidFill>
              </a:rPr>
              <a:t>r"G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:\Mi unidad\PC\UCR\Modelado Espacial\2026-1\Semana 2\</a:t>
            </a:r>
            <a:r>
              <a:rPr lang="es-MX" dirty="0" err="1">
                <a:solidFill>
                  <a:schemeClr val="accent2">
                    <a:lumMod val="75000"/>
                  </a:schemeClr>
                </a:solidFill>
              </a:rPr>
              <a:t>GISTPython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\</a:t>
            </a:r>
            <a:r>
              <a:rPr lang="es-MX" dirty="0" err="1">
                <a:solidFill>
                  <a:schemeClr val="accent2">
                    <a:lumMod val="75000"/>
                  </a:schemeClr>
                </a:solidFill>
              </a:rPr>
              <a:t>GISTPython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\Data\City </a:t>
            </a:r>
            <a:r>
              <a:rPr lang="es-MX" dirty="0" err="1">
                <a:solidFill>
                  <a:schemeClr val="accent2">
                    <a:lumMod val="75000"/>
                  </a:schemeClr>
                </a:solidFill>
              </a:rPr>
              <a:t>of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MX" dirty="0" err="1">
                <a:solidFill>
                  <a:schemeClr val="accent2">
                    <a:lumMod val="75000"/>
                  </a:schemeClr>
                </a:solidFill>
              </a:rPr>
              <a:t>Oleander.gdb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"</a:t>
            </a:r>
          </a:p>
          <a:p>
            <a:pPr marL="0" indent="0">
              <a:buNone/>
            </a:pPr>
            <a:r>
              <a:rPr lang="es-MX" dirty="0" err="1"/>
              <a:t>env.overwriteOutput</a:t>
            </a:r>
            <a:r>
              <a:rPr lang="es-MX" dirty="0"/>
              <a:t> = </a:t>
            </a:r>
            <a:r>
              <a:rPr lang="es-MX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81885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C7A8-F0FA-56A4-FD75-BEC8C242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5E39-6E03-C6F5-3BC6-24B92F46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1. Importación de librerías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5110E-0904-8CBD-1FC5-4CE9BD5B0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arcpy</a:t>
            </a:r>
            <a:endParaRPr lang="es-MX" dirty="0"/>
          </a:p>
          <a:p>
            <a:pPr marL="0" indent="0">
              <a:buNone/>
            </a:pPr>
            <a:r>
              <a:rPr lang="es-MX" dirty="0" err="1"/>
              <a:t>import</a:t>
            </a:r>
            <a:r>
              <a:rPr lang="es-MX" dirty="0"/>
              <a:t> os</a:t>
            </a:r>
          </a:p>
          <a:p>
            <a:pPr marL="0" indent="0">
              <a:buNone/>
            </a:pPr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arcpy</a:t>
            </a:r>
            <a:r>
              <a:rPr lang="es-MX" dirty="0"/>
              <a:t> </a:t>
            </a: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env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Aquí cargamos las herramientas necesarias.</a:t>
            </a:r>
          </a:p>
          <a:p>
            <a:r>
              <a:rPr lang="es-MX" b="1" dirty="0" err="1"/>
              <a:t>arcpy</a:t>
            </a:r>
            <a:r>
              <a:rPr lang="es-MX" dirty="0"/>
              <a:t> → permite usar herramientas de ArcGIS desde Python.</a:t>
            </a:r>
          </a:p>
          <a:p>
            <a:r>
              <a:rPr lang="es-MX" b="1" dirty="0"/>
              <a:t>os</a:t>
            </a:r>
            <a:r>
              <a:rPr lang="es-MX" dirty="0"/>
              <a:t> → sirve para manejar rutas de archivos.</a:t>
            </a:r>
          </a:p>
          <a:p>
            <a:r>
              <a:rPr lang="es-MX" b="1" dirty="0" err="1"/>
              <a:t>env</a:t>
            </a:r>
            <a:r>
              <a:rPr lang="es-MX" dirty="0"/>
              <a:t> → permite configurar el entorno de trabajo de ArcGIS.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53058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23E2-BCD5-7CA0-BE16-53E007912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2. Definición del entorno de trabajo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54712-A561-9A3F-0D03-233B69F4E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 err="1"/>
              <a:t>Workspace</a:t>
            </a:r>
            <a:endParaRPr lang="es-MX" b="1" dirty="0"/>
          </a:p>
          <a:p>
            <a:pPr marL="0" indent="0">
              <a:buNone/>
            </a:pPr>
            <a:r>
              <a:rPr lang="es-MX" dirty="0"/>
              <a:t>El </a:t>
            </a:r>
            <a:r>
              <a:rPr lang="es-MX" b="1" dirty="0" err="1"/>
              <a:t>workspace</a:t>
            </a:r>
            <a:r>
              <a:rPr lang="es-MX" dirty="0"/>
              <a:t> es la </a:t>
            </a:r>
            <a:r>
              <a:rPr lang="es-MX" dirty="0" err="1"/>
              <a:t>geodatabase</a:t>
            </a:r>
            <a:r>
              <a:rPr lang="es-MX" dirty="0"/>
              <a:t> donde </a:t>
            </a:r>
            <a:r>
              <a:rPr lang="es-MX" dirty="0" err="1"/>
              <a:t>ArcPy</a:t>
            </a:r>
            <a:r>
              <a:rPr lang="es-MX" dirty="0"/>
              <a:t> buscará los datos por defecto.</a:t>
            </a:r>
          </a:p>
          <a:p>
            <a:pPr marL="0" indent="0">
              <a:buNone/>
            </a:pPr>
            <a:r>
              <a:rPr lang="es-MX" b="1" dirty="0" err="1"/>
              <a:t>overwriteOutput</a:t>
            </a:r>
            <a:endParaRPr lang="es-MX" b="1" dirty="0"/>
          </a:p>
          <a:p>
            <a:pPr marL="0" indent="0">
              <a:buNone/>
            </a:pPr>
            <a:r>
              <a:rPr lang="es-MX" dirty="0"/>
              <a:t>Permite </a:t>
            </a:r>
            <a:r>
              <a:rPr lang="es-MX" b="1" dirty="0"/>
              <a:t>sobrescribir archivos existentes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env.workspace</a:t>
            </a:r>
            <a:r>
              <a:rPr lang="es-MX" dirty="0"/>
              <a:t> = </a:t>
            </a:r>
            <a:r>
              <a:rPr lang="es-MX" dirty="0" err="1"/>
              <a:t>r"G</a:t>
            </a:r>
            <a:r>
              <a:rPr lang="es-MX" dirty="0"/>
              <a:t>:\...\City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Oleander.gdb</a:t>
            </a:r>
            <a:r>
              <a:rPr lang="es-MX" dirty="0"/>
              <a:t>"</a:t>
            </a:r>
            <a:br>
              <a:rPr lang="es-MX" dirty="0"/>
            </a:br>
            <a:r>
              <a:rPr lang="es-MX" dirty="0" err="1"/>
              <a:t>env.overwriteOutput</a:t>
            </a:r>
            <a:r>
              <a:rPr lang="es-MX" dirty="0"/>
              <a:t> = True</a:t>
            </a:r>
          </a:p>
          <a:p>
            <a:pPr marL="0" indent="0">
              <a:buNone/>
            </a:pPr>
            <a:endParaRPr lang="es-MX" dirty="0"/>
          </a:p>
          <a:p>
            <a:endParaRPr lang="es-MX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64225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4442-6D4D-B1A6-005C-4518AE55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C6AC6-44EA-C30F-DD71-16FC6C96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3. Definir el </a:t>
            </a:r>
            <a:r>
              <a:rPr lang="es-MX" b="1" dirty="0" err="1"/>
              <a:t>Feature</a:t>
            </a:r>
            <a:r>
              <a:rPr lang="es-MX" b="1" dirty="0"/>
              <a:t> </a:t>
            </a:r>
            <a:r>
              <a:rPr lang="es-MX" b="1" dirty="0" err="1"/>
              <a:t>Class</a:t>
            </a:r>
            <a:r>
              <a:rPr lang="es-MX" b="1" dirty="0"/>
              <a:t> de entrada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1319E-EDB5-8FA5-0F8F-A0CC9C479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cName</a:t>
            </a:r>
            <a:r>
              <a:rPr lang="en-US" dirty="0"/>
              <a:t> = "BC_Assoc_3H_Path"</a:t>
            </a:r>
            <a:endParaRPr lang="es-MX" dirty="0"/>
          </a:p>
          <a:p>
            <a:endParaRPr lang="es-MX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42791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F10D-9C52-FA93-8B25-AF0E432F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5FF7-F307-4C5C-43F7-CFB2526F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4. Definir la </a:t>
            </a:r>
            <a:r>
              <a:rPr lang="es-MX" b="1" dirty="0" err="1"/>
              <a:t>geodatabase</a:t>
            </a:r>
            <a:r>
              <a:rPr lang="es-MX" b="1" dirty="0"/>
              <a:t> de salida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10424-E64D-6AAB-F774-9168CAFCA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gdbtemp</a:t>
            </a:r>
            <a:r>
              <a:rPr lang="en-US" dirty="0"/>
              <a:t> = r"...\Temporary </a:t>
            </a:r>
            <a:r>
              <a:rPr lang="en-US" dirty="0" err="1"/>
              <a:t>Storage.gdb</a:t>
            </a:r>
            <a:r>
              <a:rPr lang="en-US" dirty="0"/>
              <a:t>"</a:t>
            </a:r>
            <a:endParaRPr lang="es-MX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04242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9219-44DB-67A5-A353-8B819731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D853-04A4-5DAF-4BC3-D1301282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5. Definir el nombre de la capa de buffer</a:t>
            </a:r>
            <a:endParaRPr lang="es-MX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FA31-1349-B508-4834-056C34B7E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fcbuffer</a:t>
            </a:r>
            <a:r>
              <a:rPr lang="es-MX" dirty="0"/>
              <a:t> = "</a:t>
            </a:r>
            <a:r>
              <a:rPr lang="es-MX" dirty="0" err="1"/>
              <a:t>SelectionBuffer</a:t>
            </a:r>
            <a:r>
              <a:rPr lang="es-MX" dirty="0"/>
              <a:t>"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123286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FD57-F148-B6C2-A673-A5F5CD94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AC4A-B6FB-E358-97A8-6DBB22F5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6. Construir la ruta completa de salida</a:t>
            </a:r>
            <a:endParaRPr lang="es-MX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675EE-CEB7-78CB-82A7-65C5A17A6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output_buffer</a:t>
            </a:r>
            <a:r>
              <a:rPr lang="es-MX" dirty="0"/>
              <a:t> = </a:t>
            </a:r>
            <a:r>
              <a:rPr lang="es-MX" dirty="0" err="1"/>
              <a:t>os.path.join</a:t>
            </a:r>
            <a:r>
              <a:rPr lang="es-MX" dirty="0"/>
              <a:t>(</a:t>
            </a:r>
            <a:r>
              <a:rPr lang="es-MX" dirty="0" err="1"/>
              <a:t>gdbtemp</a:t>
            </a:r>
            <a:r>
              <a:rPr lang="es-MX" dirty="0"/>
              <a:t>, </a:t>
            </a:r>
            <a:r>
              <a:rPr lang="es-MX" dirty="0" err="1"/>
              <a:t>fcbuffer</a:t>
            </a:r>
            <a:r>
              <a:rPr lang="es-MX" dirty="0"/>
              <a:t>)</a:t>
            </a:r>
          </a:p>
          <a:p>
            <a:r>
              <a:rPr lang="en-US" dirty="0"/>
              <a:t>Esto </a:t>
            </a:r>
            <a:r>
              <a:rPr lang="en-US" dirty="0" err="1"/>
              <a:t>une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	Temporary </a:t>
            </a:r>
            <a:r>
              <a:rPr lang="en-US" dirty="0" err="1"/>
              <a:t>Storage.gdb</a:t>
            </a:r>
            <a:br>
              <a:rPr lang="en-US" dirty="0"/>
            </a:br>
            <a:r>
              <a:rPr lang="en-US" dirty="0"/>
              <a:t>		+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SelectionBuffer</a:t>
            </a:r>
            <a:endParaRPr lang="en-US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533221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CE90-B929-8955-E60A-85A8634C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5909-D2D7-E2BB-A80F-742ACAA7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7. Leer atributos usando un cursor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60CD-1F19-31AD-942E-48B8E57EB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with </a:t>
            </a:r>
            <a:r>
              <a:rPr lang="en-US" dirty="0" err="1"/>
              <a:t>arcpy.da.SearchCursor</a:t>
            </a:r>
            <a:r>
              <a:rPr lang="en-US" dirty="0"/>
              <a:t>(</a:t>
            </a:r>
            <a:r>
              <a:rPr lang="en-US" dirty="0" err="1"/>
              <a:t>fcName</a:t>
            </a:r>
            <a:r>
              <a:rPr lang="en-US" dirty="0"/>
              <a:t>, ["</a:t>
            </a:r>
            <a:r>
              <a:rPr lang="en-US" dirty="0" err="1"/>
              <a:t>Shape_Length</a:t>
            </a:r>
            <a:r>
              <a:rPr lang="en-US" dirty="0"/>
              <a:t>"]) as cursor:</a:t>
            </a:r>
            <a:br>
              <a:rPr lang="en-US" dirty="0"/>
            </a:br>
            <a:r>
              <a:rPr lang="en-US" dirty="0"/>
              <a:t>	for row in cursor: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drillLength</a:t>
            </a:r>
            <a:r>
              <a:rPr lang="en-US" dirty="0"/>
              <a:t> = row[0]</a:t>
            </a:r>
          </a:p>
          <a:p>
            <a:pPr marL="0" indent="0">
              <a:buNone/>
            </a:pPr>
            <a:r>
              <a:rPr lang="es-MX" dirty="0"/>
              <a:t>Permite leer registros de una tabla o capa. </a:t>
            </a:r>
          </a:p>
          <a:p>
            <a:pPr marL="0" indent="0">
              <a:buNone/>
            </a:pPr>
            <a:r>
              <a:rPr lang="es-MX" dirty="0"/>
              <a:t>Se está leyendo el </a:t>
            </a:r>
            <a:r>
              <a:rPr lang="es-MX" dirty="0" err="1"/>
              <a:t>campo:Shape_Length</a:t>
            </a:r>
            <a:r>
              <a:rPr lang="es-MX" dirty="0"/>
              <a:t> que representa la longitud de la línea.</a:t>
            </a:r>
          </a:p>
          <a:p>
            <a:pPr marL="0" indent="0">
              <a:buNone/>
            </a:pPr>
            <a:r>
              <a:rPr lang="es-MX" dirty="0"/>
              <a:t>Cada fila del cursor representa un </a:t>
            </a:r>
            <a:r>
              <a:rPr lang="es-MX" dirty="0" err="1"/>
              <a:t>registro.row</a:t>
            </a:r>
            <a:r>
              <a:rPr lang="es-MX" dirty="0"/>
              <a:t>[0] significa el primer campo solicitado.</a:t>
            </a:r>
          </a:p>
        </p:txBody>
      </p:sp>
    </p:spTree>
    <p:extLst>
      <p:ext uri="{BB962C8B-B14F-4D97-AF65-F5344CB8AC3E}">
        <p14:creationId xmlns:p14="http://schemas.microsoft.com/office/powerpoint/2010/main" val="2947213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5514-9461-1DA3-21B1-9418EBA4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A48D-BB6B-C66E-D704-12900CF7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8. Determinar la distancia del buffer</a:t>
            </a:r>
            <a:endParaRPr lang="es-MX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1E5A3-B64C-40FE-3B8A-B557A9654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if</a:t>
            </a:r>
            <a:r>
              <a:rPr lang="es-MX" dirty="0"/>
              <a:t> </a:t>
            </a:r>
            <a:r>
              <a:rPr lang="es-MX" dirty="0" err="1"/>
              <a:t>drillLength</a:t>
            </a:r>
            <a:r>
              <a:rPr lang="es-MX" dirty="0"/>
              <a:t> &lt; 300:</a:t>
            </a:r>
            <a:br>
              <a:rPr lang="es-MX" dirty="0"/>
            </a:br>
            <a:r>
              <a:rPr lang="es-MX" dirty="0"/>
              <a:t>	</a:t>
            </a:r>
            <a:r>
              <a:rPr lang="es-MX" dirty="0" err="1"/>
              <a:t>wellBuffDist</a:t>
            </a:r>
            <a:r>
              <a:rPr lang="es-MX" dirty="0"/>
              <a:t> = 75</a:t>
            </a:r>
            <a:br>
              <a:rPr lang="es-MX" dirty="0"/>
            </a:br>
            <a:r>
              <a:rPr lang="es-MX" dirty="0" err="1"/>
              <a:t>elif</a:t>
            </a:r>
            <a:r>
              <a:rPr lang="es-MX" dirty="0"/>
              <a:t> </a:t>
            </a:r>
            <a:r>
              <a:rPr lang="es-MX" dirty="0" err="1"/>
              <a:t>drillLength</a:t>
            </a:r>
            <a:r>
              <a:rPr lang="es-MX" dirty="0"/>
              <a:t> &lt; 4000:</a:t>
            </a:r>
            <a:br>
              <a:rPr lang="es-MX" dirty="0"/>
            </a:br>
            <a:r>
              <a:rPr lang="es-MX" dirty="0"/>
              <a:t>	</a:t>
            </a:r>
            <a:r>
              <a:rPr lang="es-MX" dirty="0" err="1"/>
              <a:t>wellBuffDist</a:t>
            </a:r>
            <a:r>
              <a:rPr lang="es-MX" dirty="0"/>
              <a:t> = 175</a:t>
            </a:r>
            <a:br>
              <a:rPr lang="es-MX" dirty="0"/>
            </a:br>
            <a:r>
              <a:rPr lang="es-MX" dirty="0" err="1"/>
              <a:t>else</a:t>
            </a:r>
            <a:r>
              <a:rPr lang="es-MX" dirty="0"/>
              <a:t>:</a:t>
            </a:r>
            <a:br>
              <a:rPr lang="es-MX" dirty="0"/>
            </a:br>
            <a:r>
              <a:rPr lang="es-MX" dirty="0"/>
              <a:t>	</a:t>
            </a:r>
            <a:r>
              <a:rPr lang="es-MX" dirty="0" err="1"/>
              <a:t>wellBuffDist</a:t>
            </a:r>
            <a:r>
              <a:rPr lang="es-MX" dirty="0"/>
              <a:t> = 300</a:t>
            </a:r>
          </a:p>
        </p:txBody>
      </p:sp>
    </p:spTree>
    <p:extLst>
      <p:ext uri="{BB962C8B-B14F-4D97-AF65-F5344CB8AC3E}">
        <p14:creationId xmlns:p14="http://schemas.microsoft.com/office/powerpoint/2010/main" val="39580403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9AE12-7C3A-07E3-72A0-9AD57387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2E9B-4E05-BC0E-1B45-F7C6FC16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9. Crear el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EB155-CF27-4BC6-1D5F-AA2442EF9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arcpy.analysis.PairwiseBuffer</a:t>
            </a:r>
            <a:r>
              <a:rPr lang="es-MX" dirty="0"/>
              <a:t>(</a:t>
            </a:r>
            <a:r>
              <a:rPr lang="es-MX" dirty="0" err="1"/>
              <a:t>fcName</a:t>
            </a:r>
            <a:r>
              <a:rPr lang="es-MX" dirty="0"/>
              <a:t>, </a:t>
            </a:r>
            <a:r>
              <a:rPr lang="es-MX" dirty="0" err="1"/>
              <a:t>output_buffer</a:t>
            </a:r>
            <a:r>
              <a:rPr lang="es-MX" dirty="0"/>
              <a:t>, f"{</a:t>
            </a:r>
            <a:r>
              <a:rPr lang="es-MX" dirty="0" err="1"/>
              <a:t>wellBuffDist</a:t>
            </a:r>
            <a:r>
              <a:rPr lang="es-MX" dirty="0"/>
              <a:t>} </a:t>
            </a:r>
            <a:r>
              <a:rPr lang="es-MX" dirty="0" err="1"/>
              <a:t>Meters</a:t>
            </a:r>
            <a:r>
              <a:rPr lang="es-MX" dirty="0"/>
              <a:t>")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Capa de entrada: </a:t>
            </a:r>
            <a:r>
              <a:rPr lang="es-MX" dirty="0" err="1"/>
              <a:t>fcName</a:t>
            </a:r>
            <a:endParaRPr lang="es-MX" dirty="0"/>
          </a:p>
          <a:p>
            <a:r>
              <a:rPr lang="es-MX" dirty="0"/>
              <a:t>Capa de salida: </a:t>
            </a:r>
            <a:r>
              <a:rPr lang="es-MX" dirty="0" err="1"/>
              <a:t>output_buffer</a:t>
            </a:r>
            <a:endParaRPr lang="es-MX" dirty="0"/>
          </a:p>
          <a:p>
            <a:r>
              <a:rPr lang="es-MX" dirty="0"/>
              <a:t>Distancia del buffer: </a:t>
            </a:r>
            <a:r>
              <a:rPr lang="es-MX" dirty="0" err="1"/>
              <a:t>wellBuffDist</a:t>
            </a:r>
            <a:endParaRPr lang="es-MX" dirty="0"/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0488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E3C4-0E61-B192-FD23-F22521FD5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10. Crear un </a:t>
            </a:r>
            <a:r>
              <a:rPr lang="es-MX" dirty="0" err="1"/>
              <a:t>Feature</a:t>
            </a:r>
            <a:r>
              <a:rPr lang="es-MX" dirty="0"/>
              <a:t> </a:t>
            </a:r>
            <a:r>
              <a:rPr lang="es-MX" dirty="0" err="1"/>
              <a:t>Layer</a:t>
            </a:r>
            <a:r>
              <a:rPr lang="es-MX" dirty="0"/>
              <a:t> temporal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62D9A-C76B-B162-9D1A-7150851EC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arcpy.management.MakeFeatureLayer</a:t>
            </a:r>
            <a:r>
              <a:rPr lang="es-MX" dirty="0"/>
              <a:t>("</a:t>
            </a:r>
            <a:r>
              <a:rPr lang="es-MX" dirty="0" err="1"/>
              <a:t>Parcels</a:t>
            </a:r>
            <a:r>
              <a:rPr lang="es-MX" dirty="0"/>
              <a:t>", "</a:t>
            </a:r>
            <a:r>
              <a:rPr lang="es-MX" dirty="0" err="1"/>
              <a:t>ParcelsLayer</a:t>
            </a:r>
            <a:r>
              <a:rPr lang="es-MX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202699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06440-2696-B6B6-E480-1542082D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6834-B615-B0A9-2D78-511B3E25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11. Selección espacial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3B8C8-86A0-AF58-A051-7BB59A10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arcpy.management.SelectLayerByLocation</a:t>
            </a:r>
            <a:r>
              <a:rPr lang="es-MX" dirty="0"/>
              <a:t>(</a:t>
            </a:r>
            <a:br>
              <a:rPr lang="es-MX" dirty="0"/>
            </a:br>
            <a:r>
              <a:rPr lang="es-MX" dirty="0"/>
              <a:t>"</a:t>
            </a:r>
            <a:r>
              <a:rPr lang="es-MX" dirty="0" err="1"/>
              <a:t>ParcelsLayer</a:t>
            </a:r>
            <a:r>
              <a:rPr lang="es-MX" dirty="0"/>
              <a:t>",</a:t>
            </a:r>
            <a:br>
              <a:rPr lang="es-MX" dirty="0"/>
            </a:br>
            <a:r>
              <a:rPr lang="es-MX" dirty="0"/>
              <a:t>"INTERSECT",</a:t>
            </a:r>
            <a:br>
              <a:rPr lang="es-MX" dirty="0"/>
            </a:br>
            <a:r>
              <a:rPr lang="es-MX" dirty="0" err="1"/>
              <a:t>output_buffer</a:t>
            </a:r>
            <a:br>
              <a:rPr lang="es-MX" dirty="0"/>
            </a:br>
            <a:r>
              <a:rPr lang="es-MX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650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CFBF-6960-6A19-5548-2ED26AB1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Parámetros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630C4-BC70-3CCF-DC95-A08CD7517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ParcelsLayer</a:t>
            </a:r>
            <a:r>
              <a:rPr lang="es-MX" dirty="0"/>
              <a:t>	capa a seleccionar</a:t>
            </a:r>
          </a:p>
          <a:p>
            <a:r>
              <a:rPr lang="es-MX" dirty="0"/>
              <a:t>INTERSECT	relación espacial</a:t>
            </a:r>
          </a:p>
          <a:p>
            <a:r>
              <a:rPr lang="es-MX" dirty="0" err="1"/>
              <a:t>output_buffer</a:t>
            </a:r>
            <a:r>
              <a:rPr lang="es-MX" dirty="0"/>
              <a:t>	capa usada para la selección</a:t>
            </a:r>
          </a:p>
        </p:txBody>
      </p:sp>
    </p:spTree>
    <p:extLst>
      <p:ext uri="{BB962C8B-B14F-4D97-AF65-F5344CB8AC3E}">
        <p14:creationId xmlns:p14="http://schemas.microsoft.com/office/powerpoint/2010/main" val="3196343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6C3F-704E-5D7A-C3ED-202F5FF06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AEAA-ADE0-AB53-89DB-C3A65CBE1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12. Exportar las parcelas seleccionadas</a:t>
            </a: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75393-13DD-6F0F-622C-0864083ED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arcpy.management.CopyRows</a:t>
            </a:r>
            <a:r>
              <a:rPr lang="es-MX" dirty="0"/>
              <a:t>("</a:t>
            </a:r>
            <a:r>
              <a:rPr lang="es-MX" dirty="0" err="1"/>
              <a:t>ParcelsLayer</a:t>
            </a:r>
            <a:r>
              <a:rPr lang="es-MX" dirty="0"/>
              <a:t>", r"...\Data\\"+ </a:t>
            </a:r>
            <a:r>
              <a:rPr lang="es-MX" dirty="0" err="1"/>
              <a:t>fcName</a:t>
            </a:r>
            <a:r>
              <a:rPr lang="es-MX" dirty="0"/>
              <a:t> +"</a:t>
            </a:r>
            <a:r>
              <a:rPr lang="es-MX" dirty="0" err="1"/>
              <a:t>MailList.dbf</a:t>
            </a:r>
            <a:r>
              <a:rPr lang="es-MX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611512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2061</Words>
  <Application>Microsoft Office PowerPoint</Application>
  <PresentationFormat>Widescreen</PresentationFormat>
  <Paragraphs>210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Söhne</vt:lpstr>
      <vt:lpstr>Söhne Mono</vt:lpstr>
      <vt:lpstr>Office Theme</vt:lpstr>
      <vt:lpstr>Modelado Espacial</vt:lpstr>
      <vt:lpstr>Revision del Plan del Curso</vt:lpstr>
      <vt:lpstr>1. ¿Qué es Python?</vt:lpstr>
      <vt:lpstr>2. Instalación de Python</vt:lpstr>
      <vt:lpstr>3. Entornos de desarrollo integrados (IDEs)</vt:lpstr>
      <vt:lpstr>4. Variables y Tipos de Datos Básicos</vt:lpstr>
      <vt:lpstr>5. Operadores Aritméticos</vt:lpstr>
      <vt:lpstr>6. Impresión de Salida</vt:lpstr>
      <vt:lpstr>7. Comentarios</vt:lpstr>
      <vt:lpstr>8. Control de Flujo: Condicionales (if)</vt:lpstr>
      <vt:lpstr>8. Control de Flujo: Condicionales (if) y Bucles (for)</vt:lpstr>
      <vt:lpstr>8. Control de Flujo: Bucles (for)</vt:lpstr>
      <vt:lpstr>8. Control de Flujo: Bucles (for)</vt:lpstr>
      <vt:lpstr>Listas</vt:lpstr>
      <vt:lpstr>Listas</vt:lpstr>
      <vt:lpstr>Creación de listas mediante la función list()</vt:lpstr>
      <vt:lpstr>Creación de listas mediante la función list()</vt:lpstr>
      <vt:lpstr>Sublistas</vt:lpstr>
      <vt:lpstr>Acceso a los elementos de una lista</vt:lpstr>
      <vt:lpstr>Tuplas</vt:lpstr>
      <vt:lpstr>Tuplas</vt:lpstr>
      <vt:lpstr>Operaciones que no modifican una lista</vt:lpstr>
      <vt:lpstr>Geoprocesamiento y Python</vt:lpstr>
      <vt:lpstr>Módulos de ArcPy</vt:lpstr>
      <vt:lpstr>SearchCursor</vt:lpstr>
      <vt:lpstr>Recuperar datos de columna usando un SearchCursor</vt:lpstr>
      <vt:lpstr>Datos Tutorial</vt:lpstr>
      <vt:lpstr>Ejercicio</vt:lpstr>
      <vt:lpstr>Script</vt:lpstr>
      <vt:lpstr>1. Importación de librerías</vt:lpstr>
      <vt:lpstr>2. Definición del entorno de trabajo</vt:lpstr>
      <vt:lpstr>3. Definir el Feature Class de entrada</vt:lpstr>
      <vt:lpstr>4. Definir la geodatabase de salida</vt:lpstr>
      <vt:lpstr>5. Definir el nombre de la capa de buffer</vt:lpstr>
      <vt:lpstr>6. Construir la ruta completa de salida</vt:lpstr>
      <vt:lpstr>7. Leer atributos usando un cursor</vt:lpstr>
      <vt:lpstr>8. Determinar la distancia del buffer</vt:lpstr>
      <vt:lpstr>9. Crear el buffer</vt:lpstr>
      <vt:lpstr>10. Crear un Feature Layer temporal</vt:lpstr>
      <vt:lpstr>11. Selección espacial</vt:lpstr>
      <vt:lpstr>Parámetros</vt:lpstr>
      <vt:lpstr>12. Exportar las parcelas seleccionadas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Modelado Espacial</dc:title>
  <dc:creator>Ana Mercedes Chinchilla Valverde</dc:creator>
  <cp:lastModifiedBy>Ana Mercedes Chinchilla Valverde</cp:lastModifiedBy>
  <cp:revision>6</cp:revision>
  <dcterms:created xsi:type="dcterms:W3CDTF">2024-03-10T23:37:09Z</dcterms:created>
  <dcterms:modified xsi:type="dcterms:W3CDTF">2026-03-16T16:51:52Z</dcterms:modified>
</cp:coreProperties>
</file>